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min]</a:t>
            </a:r>
          </a:p>
          <a:p>
            <a:r>
              <a:t>Welcome. ~90 minutes, including four live demos. No web background assumed - that's the point. Questions welcome any time, or hold them - your call as speaker.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Set expectations: nobody here needs to learn to write web code. The talk is about asking for the right thing and being able to check what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Open with the everyday moment - this is the 'why' before any tooling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Land the hook: the LLM will build whatever you name. The costly mistake now happens earlier - asking for the wrong thing and finding out three days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[~1.5 min]</a:t>
            </a:r>
          </a:p>
          <a:p>
            <a:r>
              <a:t>This is the thesis of the whole talk. Say it plainly: you won't write this code, and you don't need to. Everything after this slide is the vocabulary for writing a request you can stand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Both requests are one sentence long - the ✅ one isn't more technical, it's more decided. Promise: by the Django demo, you'll see the real request that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Walk top to bottom: Python-native UI, browser, server, and underneath it all, the pandas/model work that's already there. These are the names an LLM will throw at you - the map is where they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These cause most of the 'framework wars' confusion. Keeping the map on screen means nobody has to hold these names in their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[~1.5 min]</a:t>
            </a:r>
          </a:p>
          <a:p>
            <a:r>
              <a:t>This reframe is the whole method the rest of the talk builds on - and it's the step that turns a 🚫 request into a ✅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Dense slide on purpose - give it room. Don't read every row; point at a few (7-10) since they come back in the 'two gaps' section later. The numbers matter: every later slide refers to ticks by these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 dots are the rows of the table you just saw, lit where ticked. 'Explore' has fewer ticks than 'Share a chart' but needs a heavier tool, because #6 sits further right. Bridge straight into the ladder.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Read the footer out loud - it's the rule. Each rung's second line says which ticks it adds, so the ladder and the 12-row table are one picture. Background jobs (#12) aren't a rung - they're one of the two gaps coming up. Install commands live on the cheat-sheet at the end; the LLM will run them for you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Walk the 'who uses it' column - it's what separates Streamlit from Dash, and why FastAPI's /docs is fine for engineers but not for a business user. Honest caveat: React+Tailwind is 2 projects, a build step, and auth you write yourself - climb there only for app-like UI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Raw Tailwind gives utility classes, not a design - a component kit is what makes it look 'standard'. A peer forgives a plain page; a business user doesn't. The Django demo you'll see is the first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This and background jobs are the two gaps that bite the moment a demo becomes a product. The numbers show they're not new functionalities - they're what #7, #9-11 really mean once more than one person uses the app. None of this shows up in a 'build a dashboard in 10 minutes'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 rule to repeat: authorization is enforced on the server. Hiding a button in React protects nothing. Streamlit's cache being shared means one user's filtered data can be served to another if you cache per-user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The fix is always this same shape. This exact sequence reappears in demo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Most of us are on Windows laptops - that's why the Windows column matters. Huey's Django integration is huey.contrib.djhuey. Watch for tutorials that say huey_consumer.py - the installed command is huey_consumer. We'll prove this live in a few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[~1.5 min]</a:t>
            </a:r>
          </a:p>
          <a:p>
            <a:r>
              <a:t>Set up the comparison before showing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For a small team, Django wins on time. FastAPI+React wins when the UI must be fast/keyboard-driven, another system needs the API, or a front-end engineer owns the UI. Both use Tailwind for styling.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This is the ✅ request from the start of the talk, for real. The full prompt is 64 lines, in demos/labeling-django/PROMPT.md; the highlighted comments are added here to show the decision behind each part. You don't need the technical names - the skill (later) helps with those. You do need the decisions: tool, what's saved, who sees what, and the test that 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SWITCH TO THE BROWSER NOW. http://127.0.0.1:8000/ - alice/demo-alice-pw, bob/demo-bob-pw, admin/demo-admin-pw. Label a couple of items as alice AND bob before opening /admin/, or the Labels list is empty. Run commands: appendix. Fallback screenshots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`Item.objects.filter(assigned_to=request.user)` is the ownership rule - the line the request asked for by name. Auth is django.contrib.auth.urls - zero hand-written view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[~3.5 min]</a:t>
            </a:r>
          </a:p>
          <a:p>
            <a:r>
              <a:t>http://localhost:5173/ for the app, http://127.0.0.1:8000/docs for Swagger. Same credentials as the Django demo. Run commands: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The payoff cost more code - next slide shows exactly 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Abridged from the two demos' real code. Same rule both times. In Django the rule sits inside the query; in FastAPI a route that forgets Depends(...) still runs fine and quietly returns someone else's rows. Both demos ship a test that logs in as alice and asks for bob's item - that test is what you ask the LLM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Close the loop on the comparison before the next demo. If someone asks 'can't I have both?' - yes, see the backup slide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 min]</a:t>
            </a:r>
          </a:p>
          <a:p>
            <a:r>
              <a:t>http://127.0.0.1:8000/. The blocking button is the whole point: there's nothing to screenshot while it hangs, and that's exactly the problem. Run commands: appendix (the worker needs -k thread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[~1.5 min]</a:t>
            </a:r>
          </a:p>
          <a:p>
            <a:r>
              <a:t>This is the same 4-step shape from the earlier background-jobs slide (start / run elsewhere / store status / check back), now with the real names filled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The blocking button really does just sit there disabled for ~15s with no progress signal - the contrast with the queued version is the whole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This is the 'go try it yourself' moment - and the answer to 'but I don't know the technical names': the skill supplies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min]</a:t>
            </a:r>
          </a:p>
          <a:p>
            <a:r>
              <a:t>Worth saying explicitly: people assume Claude-authored tooling is Claude-only. Since VS Code's Agent Skills became an open standard (agentskills.io), it isn't - Copilot Chat reads the same .claude/skills/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Served at whatever URL `npm run serve -- demos/psa-terminal-map` prints (typically http://localhost:8080). The page is in three acts: the map, why this stack, and try the advisor. Run commands: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The point: the skill's advice is a function you can run, not an opinion - asserted by a test suite against all 8 documented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min]</a:t>
            </a:r>
          </a:p>
          <a:p>
            <a:r>
              <a:t>Flash it, don't read it - the LLM will usually run these for you, and it's all in the repo. Honest caveat: everything here assumes it runs on your own machine. Deployment is a separate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[~2.5 min]</a:t>
            </a:r>
          </a:p>
          <a:p>
            <a:r>
              <a:t>Close on the throughline: decompose before you choose - that's how you write the request. (Title is deliberately count-agnostic - it's been 'three lessons' before and grown; don't re-name it back to a number.)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 min]</a:t>
            </a:r>
          </a:p>
          <a:p>
            <a:r>
              <a:t>Give people a moment to note the URL down before moving to questions. The repo root is a wider learning lab - point them at these three folders.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 min]</a:t>
            </a:r>
          </a:p>
          <a:p>
            <a:r>
              <a:t>Thank you. Open the floor.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this if asked - it's the natural 'can't I have both' follow-up. The honest limit: authentication still has to live in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from the repo root. Nothing to configure by hand beyond these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terminals, both starting at the repo root; terminal 2 then cds into the web/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terminals, both starting at the repo root; terminal 2 then cds into demos/long-jobs.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Pure Node/static demo, run from the repo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2714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262AF"/>
                </a:solidFill>
                <a:latin typeface="Consolas"/>
              </a:rPr>
              <a:t># </a:t>
            </a:r>
            <a:r>
              <a:rPr sz="180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 Semibold"/>
              </a:rPr>
              <a:t>Web Dev for Data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2714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62AF"/>
                </a:solidFill>
                <a:latin typeface="Consolas"/>
              </a:rPr>
              <a:t>&gt;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Choosing a stack, working with an LLM, and staying in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262AF"/>
                </a:solidFill>
                <a:latin typeface="Consolas"/>
              </a:rPr>
              <a:t>$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3639312"/>
            <a:ext cx="118872" cy="292608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cover.md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What we'll 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Why a small web app helps a data project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You'll ask an LLM to build it: what your request has to decide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12 functionalities and a ladder: naming the lightest tool that works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Two gaps that quietly turn a demo into a product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Four live demos, including the written request that built one of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moment-every-analysis.md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The moment every analysis hits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63040"/>
            <a:ext cx="5272887" cy="2743200"/>
          </a:xfrm>
          <a:prstGeom prst="roundRect">
            <a:avLst/>
          </a:prstGeom>
          <a:solidFill>
            <a:srgbClr val="F7F7F5"/>
          </a:solidFill>
          <a:ln w="12700">
            <a:solidFill>
              <a:srgbClr val="E3E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8B887F"/>
                </a:solidFill>
                <a:latin typeface="Consolas"/>
              </a:rPr>
              <a:t>In [1]: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282697"/>
            <a:ext cx="544810" cy="512063"/>
          </a:xfrm>
          <a:prstGeom prst="rect">
            <a:avLst/>
          </a:prstGeom>
          <a:solidFill>
            <a:srgbClr val="C9C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60417" y="2916936"/>
            <a:ext cx="544810" cy="877824"/>
          </a:xfrm>
          <a:prstGeom prst="rect">
            <a:avLst/>
          </a:prstGeom>
          <a:solidFill>
            <a:srgbClr val="C9C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32115" y="3136392"/>
            <a:ext cx="544810" cy="658368"/>
          </a:xfrm>
          <a:prstGeom prst="rect">
            <a:avLst/>
          </a:prstGeom>
          <a:solidFill>
            <a:srgbClr val="C9C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03812" y="2697480"/>
            <a:ext cx="544810" cy="1097280"/>
          </a:xfrm>
          <a:prstGeom prst="rect">
            <a:avLst/>
          </a:prstGeom>
          <a:solidFill>
            <a:srgbClr val="C9C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75510" y="3063240"/>
            <a:ext cx="544810" cy="731520"/>
          </a:xfrm>
          <a:prstGeom prst="rect">
            <a:avLst/>
          </a:prstGeom>
          <a:solidFill>
            <a:srgbClr val="C9C7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0167" y="1463040"/>
            <a:ext cx="5272887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70167" y="1463040"/>
            <a:ext cx="5272887" cy="292608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07327" y="156819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53631" y="156819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99935" y="156819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35927" y="2130552"/>
            <a:ext cx="4541367" cy="317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78423" y="2075688"/>
            <a:ext cx="146304" cy="146304"/>
          </a:xfrm>
          <a:prstGeom prst="ellipse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27367" y="3502152"/>
            <a:ext cx="544810" cy="384048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065" y="2926080"/>
            <a:ext cx="544810" cy="96012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0762" y="3246120"/>
            <a:ext cx="544810" cy="64008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42460" y="2798064"/>
            <a:ext cx="544810" cy="1088136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14157" y="3374136"/>
            <a:ext cx="544810" cy="512064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43400"/>
            <a:ext cx="527288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Segoe UI Semibold"/>
              </a:rPr>
              <a:t>A chart in a notebook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4524C"/>
                </a:solidFill>
                <a:latin typeface="Segoe UI"/>
              </a:rPr>
              <a:t>Convinces you. It rarely convinces a colleague who's never going to open that notebook.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4343400"/>
            <a:ext cx="5272887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A1A1A"/>
                </a:solidFill>
                <a:latin typeface="Segoe UI Semibold"/>
              </a:rPr>
              <a:t>A small web app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4524C"/>
                </a:solidFill>
                <a:latin typeface="Segoe UI"/>
              </a:rPr>
              <a:t>Move a slider, filter to their own region, type a value - watch the answer change.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06B00"/>
                </a:solidFill>
                <a:latin typeface="Consolas"/>
              </a:rPr>
              <a:t>›  </a:t>
            </a:r>
            <a:r>
              <a:rPr sz="1600" b="1" i="1">
                <a:solidFill>
                  <a:srgbClr val="1A1A1A"/>
                </a:solidFill>
                <a:latin typeface="Segoe UI"/>
              </a:rPr>
              <a:t>That feels very different from a screenshot.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where-quietly-pays.md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Where this quietly pays 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3423818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" y="1508760"/>
            <a:ext cx="3314090" cy="5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296661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6B00"/>
                </a:solidFill>
                <a:latin typeface="Segoe UI Semibold"/>
              </a:rPr>
              <a:t>Explore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1A1A1A"/>
                </a:solidFill>
                <a:latin typeface="Segoe UI"/>
              </a:rPr>
              <a:t>Makes exploring a dataset more interactive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5378" y="1508760"/>
            <a:ext cx="3423818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30242" y="1508760"/>
            <a:ext cx="3314090" cy="5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3978" y="1783080"/>
            <a:ext cx="296661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6B00"/>
                </a:solidFill>
                <a:latin typeface="Segoe UI Semibold"/>
              </a:rPr>
              <a:t>Demonstrate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1A1A1A"/>
                </a:solidFill>
                <a:latin typeface="Segoe UI"/>
              </a:rPr>
              <a:t>Demonstrates a model as a live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19236" y="1508760"/>
            <a:ext cx="3423818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4100" y="1508760"/>
            <a:ext cx="3314090" cy="5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7836" y="1783080"/>
            <a:ext cx="296661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6B00"/>
                </a:solidFill>
                <a:latin typeface="Segoe UI Semibold"/>
              </a:rPr>
              <a:t>Prototype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1A1A1A"/>
                </a:solidFill>
                <a:latin typeface="Segoe UI"/>
              </a:rPr>
              <a:t>Prototypes a product idea before anyone spends engineering time on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9768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4524C"/>
                </a:solidFill>
                <a:latin typeface="Segoe UI"/>
              </a:rPr>
              <a:t>You won't hand-write this app - you'll ask an LLM to build it. It builds whatever you ask for, so the hard part moves to the asking: which tool, and which rules.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BE6486"/>
                </a:solidFill>
                <a:latin typeface="Consolas"/>
              </a:rPr>
              <a:t>#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Web is secondary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999713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i="0">
                <a:solidFill>
                  <a:srgbClr val="BE6486"/>
                </a:solidFill>
                <a:latin typeface="Consolas"/>
              </a:rPr>
              <a:t>/*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713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Segoe UI Semibold"/>
              </a:rPr>
              <a:t>An LLM makes writing the code cheap. That makes the request - which tool, and who may see or change what - the one part worth your 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74920"/>
            <a:ext cx="99971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 i="0">
                <a:solidFill>
                  <a:srgbClr val="BE6486"/>
                </a:solidFill>
                <a:latin typeface="Consolas"/>
              </a:rPr>
              <a:t>*/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let-llm-write.md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Let the LLM write the code. You decide the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🚫 “Build me a labeling tool.” The LLM quietly picks the tool, what gets saved, and who can see what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✅ “Use Django. Save each reviewer's labels. Reviewers see only the rows assigned to them; admins see everything.” You decided - the LLM writes it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rest of this talk gives you the words for the ✅ version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Skip it, and you end up with an app you can't explain, check, or safely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field-map/field-map.png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Where each tool lives</a:t>
            </a:r>
          </a:p>
        </p:txBody>
      </p:sp>
      <p:pic>
        <p:nvPicPr>
          <p:cNvPr id="9" name="Picture 8" descr="fiel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191" y="1371600"/>
            <a:ext cx="8394192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4524C"/>
                </a:solidFill>
                <a:latin typeface="Segoe UI"/>
              </a:rPr>
              <a:t>Same band = alternatives. Different bands = usually combine.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three-easy-things.md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Three easy things to miss</a:t>
            </a:r>
          </a:p>
        </p:txBody>
      </p:sp>
      <p:pic>
        <p:nvPicPr>
          <p:cNvPr id="9" name="Picture 8" descr="field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1440"/>
            <a:ext cx="4846320" cy="269240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943600" y="1371600"/>
            <a:ext cx="569945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6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600" b="0" i="0">
                <a:solidFill>
                  <a:srgbClr val="1A1A1A"/>
                </a:solidFill>
                <a:latin typeface="Segoe UI"/>
              </a:rPr>
              <a:t>Tailwind (styling only) isn't a rival to Django or React - it works with either.</a:t>
            </a:r>
          </a:p>
          <a:p>
            <a:pPr marL="384048" indent="-384048">
              <a:spcAft>
                <a:spcPts val="1400"/>
              </a:spcAft>
            </a:pPr>
            <a:r>
              <a:rPr sz="16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600" b="0" i="0">
                <a:solidFill>
                  <a:srgbClr val="1A1A1A"/>
                </a:solidFill>
                <a:latin typeface="Segoe UI"/>
              </a:rPr>
              <a:t>React and Angular are alternatives to each other, and neither works alone: both need a server behind them for data and login.</a:t>
            </a:r>
          </a:p>
          <a:p>
            <a:pPr marL="384048" indent="-384048">
              <a:spcAft>
                <a:spcPts val="1400"/>
              </a:spcAft>
            </a:pPr>
            <a:r>
              <a:rPr sz="16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600" b="0" i="0">
                <a:solidFill>
                  <a:srgbClr val="1A1A1A"/>
                </a:solidFill>
                <a:latin typeface="Segoe UI"/>
              </a:rPr>
              <a:t>If you live in Python: Streamlit and Dash need zero JavaScript, and for many tasks that's the whole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stop-asking-which.md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Stop asking 'which framework?'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Ask instead: what does this app actually have to do?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Any web app is some mix of the same 12 functionalities.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Tick the ones yours needs. That list is the core of your request to the LLM.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12-functionalities.json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The 12 functionalities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855"/>
                <a:gridCol w="3851130"/>
                <a:gridCol w="6418550"/>
              </a:tblGrid>
              <a:tr h="400929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Presentation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Show static content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Styling &amp; layout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Make it look decent and consistent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Client interactivity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Filters and tooltips, no page reload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API: providing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Expose data or a model over HTTP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API: consuming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page or service calls an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Server-side compute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Run pandas or a model per request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Save records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Forms &amp; CRUD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Validated create, edit, delete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Authentication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Who is this user?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Authorization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What may they do or see?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400929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Session &amp; state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Remember a user's choices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93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Background / long jobs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Work that outlives one request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worked-examples.md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Worked 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880841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Segoe UI"/>
              </a:rPr>
              <a:t>Share a chart you're proud of  →  Presentation, Styling &amp; layout, Client interactivity</a:t>
            </a:r>
          </a:p>
        </p:txBody>
      </p:sp>
      <p:sp>
        <p:nvSpPr>
          <p:cNvPr id="10" name="Oval 9"/>
          <p:cNvSpPr/>
          <p:nvPr/>
        </p:nvSpPr>
        <p:spPr>
          <a:xfrm>
            <a:off x="9814255" y="179679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65131" y="179679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16007" y="179679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66883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417759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68635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19511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870387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21263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72139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23015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73891" y="179679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4255" y="19431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8B887F"/>
                </a:solidFill>
                <a:latin typeface="Consolas"/>
              </a:rPr>
              <a:t>#1, #2, 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331720"/>
            <a:ext cx="880841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Segoe UI"/>
              </a:rPr>
              <a:t>Explore a dataset  →  Client interactivity, Server-side compute</a:t>
            </a:r>
          </a:p>
        </p:txBody>
      </p:sp>
      <p:sp>
        <p:nvSpPr>
          <p:cNvPr id="24" name="Oval 23"/>
          <p:cNvSpPr/>
          <p:nvPr/>
        </p:nvSpPr>
        <p:spPr>
          <a:xfrm>
            <a:off x="9814255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965131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16007" y="275691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66883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17759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68635" y="275691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19511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870387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021263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172139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323015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73891" y="275691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14255" y="29032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8B887F"/>
                </a:solidFill>
                <a:latin typeface="Consolas"/>
              </a:rPr>
              <a:t>#3, #6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291840"/>
            <a:ext cx="880841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50" b="0" i="0">
                <a:solidFill>
                  <a:srgbClr val="1A1A1A"/>
                </a:solidFill>
                <a:latin typeface="Segoe UI"/>
              </a:rPr>
              <a:t>A labeling tool  →  Persistence, Forms, Authentication, Authorization</a:t>
            </a:r>
          </a:p>
        </p:txBody>
      </p:sp>
      <p:sp>
        <p:nvSpPr>
          <p:cNvPr id="38" name="Oval 37"/>
          <p:cNvSpPr/>
          <p:nvPr/>
        </p:nvSpPr>
        <p:spPr>
          <a:xfrm>
            <a:off x="9814255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5131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116007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266883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417759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68635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719511" y="371703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870387" y="371703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21263" y="371703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172139" y="3717036"/>
            <a:ext cx="109728" cy="109728"/>
          </a:xfrm>
          <a:prstGeom prst="ellipse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323015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473891" y="3717036"/>
            <a:ext cx="109728" cy="109728"/>
          </a:xfrm>
          <a:prstGeom prst="ellipse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14255" y="38633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8B887F"/>
                </a:solidFill>
                <a:latin typeface="Consolas"/>
              </a:rPr>
              <a:t>#7, #8, #9, #10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389120"/>
            <a:ext cx="1091153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5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500" b="0" i="0">
                <a:solidFill>
                  <a:srgbClr val="1A1A1A"/>
                </a:solidFill>
                <a:latin typeface="Segoe UI"/>
              </a:rPr>
              <a:t>It's not how many ticks - it's how far right they sit. #6 needs a running server; #7 onward needs a database and user accounts.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climb-must.md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Climb only when you must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Static HTML + D3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show a finished result, no server at all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covers #1-3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796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59436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286000"/>
            <a:ext cx="1028974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Streamlit or Dash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explore data, or a tool for peers. Python only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adds #6: your Python runs each time someone interacts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1940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9436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200400"/>
            <a:ext cx="1028974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Flask or FastAPI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serve a model or data to other programs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adds #4: an API other code can 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1084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59436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114800"/>
            <a:ext cx="1028974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Django + a Tailwind kit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users, a database, forms, and an admin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adds #7-11: saved records, forms, logins, permissions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0228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59436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029200"/>
            <a:ext cx="1028974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React or Angular over an 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only when the UI must feel like an app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adds no new tick: instant, keyboard-driven screens, at the cost of two projects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C0552A"/>
                </a:solidFill>
                <a:latin typeface="Segoe UI"/>
              </a:rPr>
              <a:t>→ Start at the lowest rung that covers your furthest tick. Climb only when you can name what the rung below can't 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applied-concrete-cases.json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Applied to concrete cases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546024"/>
                <a:gridCol w="1545800"/>
                <a:gridCol w="4091825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Who uses it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Deciding ticks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Pick</a:t>
                      </a:r>
                    </a:p>
                  </a:txBody>
                  <a:tcPr anchor="ctr">
                    <a:solidFill>
                      <a:srgbClr val="C0552A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Share a finished chart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Anyone with the link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#1-3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Static HTML + D3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Explore a dataset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You, or a data peer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#3, #6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Metrics dashboard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Your team, every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#3, #6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Demo a model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Engineers first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#4, #6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FastAPI (/docs is a free test form); add a Streamlit page for others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Labeling or review tool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Several named people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#7-10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Pipeline that ends in a page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Anyone with the link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#1, #3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Python writes JSON, D3 draws 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C0552A"/>
                </a:solidFill>
                <a:latin typeface="Segoe UI"/>
              </a:rPr>
              <a:t>→ Same ticks, different pick? Who uses it breaks the tie: Streamlit is fastest for you, Dash gives a team more layout control.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pretty-enough-business.json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Pretty enough for business users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Option</a:t>
                      </a:r>
                    </a:p>
                  </a:txBody>
                  <a:tcPr anchor="ctr">
                    <a:solidFill>
                      <a:srgbClr val="2262A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Good for</a:t>
                      </a:r>
                    </a:p>
                  </a:txBody>
                  <a:tcPr anchor="ctr">
                    <a:solidFill>
                      <a:srgbClr val="2262A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 + Tailwind + daisyUI (a ready-made component kit)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clean prototype with no React - the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 + Tailwind + shadcn/ui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The best-looking and most customizable, highest setup cost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 + dash-bootstrap-components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Tidy dashboards out of the box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 admin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Back-office screens for free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2262AF"/>
                </a:solidFill>
                <a:latin typeface="Segoe UI"/>
              </a:rPr>
              <a:t>→ Name the kit in your request. Otherwise the LLM picks the look for you.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multi-user-six.md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Multi-user: six things to solve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Authentication (#9) — who is this user?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Authorization (#10) — what may they do?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Data isolation (#10) — user A never sees user B's rows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Per-user state (#11) — remembering each user's own choices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Concurrent writes (#7) — two people editing the same row at once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Audit trail (#7) — who changed what, and when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Don't count on an LLM to add these unprompted: name each one you need.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tools-differ-sharply.json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The tools differ sharply here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5220"/>
                <a:gridCol w="8266314"/>
              </a:tblGrid>
              <a:tr h="65314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What you get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Auth, sessions, groups &amp; permissions (role-based access) - all built 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Flask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built in - Flask-Login adds sessions; roles you write yourself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FastAPI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built in - docs show an OAuth2/JWT pattern (a token sent with every request) to write yourself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Built-in OIDC login (“log in with Google/Microsoft”) - but no roles, and cached data is shared by every user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653142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dash-auth: HTTP Basic only (a plain browser login popup, no real session) - no logout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React, Angular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Login screens only - real security lives on the server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006B00"/>
                </a:solidFill>
                <a:latin typeface="Segoe UI"/>
              </a:rPr>
              <a:t>→ Only Django ships real roles. With anything else, your request has to spell out who may see and change what.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web-page-must.md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A web page must answer in seconds. Retraining a model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BE6486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Clicking 'Start' starts the job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the page gets a job id back at once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082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14600"/>
            <a:ext cx="5943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BE6486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514600"/>
            <a:ext cx="10289743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The job runs somewhere else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in a separate worker 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6512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5943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BE6486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57600"/>
            <a:ext cx="10289743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Its status is stored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a row in a table, updated as it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79425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5943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BE6486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800600"/>
            <a:ext cx="10289743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The page checks back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every few seconds, until it's done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BE6486"/>
                </a:solidFill>
                <a:latin typeface="Segoe UI"/>
              </a:rPr>
              <a:t>→ Ask for this shape by name: “run it as a background job, and have the page poll its status.”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surprising-traps-background.json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Surprising traps in background-job tooling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6"/>
              </a:tblGrid>
              <a:tr h="7620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Example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Catch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FastAPI BackgroundTasks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Runs a function after the response is sent, same process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background_tasks.add_task(fn)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In-process - no persistence or retries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Huey + SQLite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small task queue that keeps its queue in a SQLite file - no separate server to run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huey_consumer tasks.huey -k thread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Smaller ecosystem than Celery/RQ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job queue that needs a Redis server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rq worker  (a separate process)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Uses os.fork - no native Windows support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Celery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The most full-featured distributed task queue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celery -A proj worker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Windows is unsupported by the project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Django's django.tasks (6.0)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Django's own built-in task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tasks.enqueue(my_task)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Defines enqueue, ships no worker - you still supply 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BE6486"/>
                </a:solidFill>
                <a:latin typeface="Segoe UI"/>
              </a:rPr>
              <a:t>→ Default on a laptop: Huey + SQLite. Works on Windows, and plugs into Django too.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test-case-labeling.md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The test case: a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model has predicted a category for a batch of support tickets.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Reviewers label rows; admins see everyone's labels and manage users.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reviewer sees only the rows assigned to them.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 long job re-scores the data with a new model (demo 3 shows that part on its own).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Deciding ticks: #7-10, plus #12 for the re-scoring - a fair test of both stacks.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django-fastapi-react.py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Django vs. FastAPI + React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04207"/>
                <a:gridCol w="4404207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FastAPI + React</a:t>
                      </a:r>
                    </a:p>
                  </a:txBody>
                  <a:tcPr anchor="ctr">
                    <a:solidFill>
                      <a:srgbClr val="C28400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Login &amp; users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 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 build 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Who-sees-what rule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Inside the query, once per view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Repeated per route - 3 places to remember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Back-office screens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Admin gives users &amp; labels for free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You build them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API for other systems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Add Django REST Framework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Built in, with automatic docs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Interface feel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Page loads, a little 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Instant, app-like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PROMPT.md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The request that built demo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10911535" cy="4572000"/>
          </a:xfrm>
          <a:prstGeom prst="roundRect">
            <a:avLst>
              <a:gd name="adj" fmla="val 3000"/>
            </a:avLst>
          </a:prstGeom>
          <a:solidFill>
            <a:srgbClr val="12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481328"/>
            <a:ext cx="104543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B7B9C4"/>
                </a:solidFill>
                <a:latin typeface="Consolas"/>
              </a:rPr>
              <a:t>demos/labeling-django/PROMPT.md  (abridged; # notes added for this slide)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828800"/>
            <a:ext cx="10454335" cy="9525"/>
          </a:xfrm>
          <a:prstGeom prst="rect">
            <a:avLst/>
          </a:prstGeom>
          <a:solidFill>
            <a:srgbClr val="33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920240"/>
            <a:ext cx="10454335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00" b="0" i="0">
                <a:solidFill>
                  <a:srgbClr val="E5C07B"/>
                </a:solidFill>
                <a:latin typeface="Consolas"/>
              </a:rPr>
              <a:t># The tool: Django - login and an admin screen come built in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Build a Django demo app at demos/labeling-django/ ...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E5C07B"/>
                </a:solidFill>
                <a:latin typeface="Consolas"/>
              </a:rPr>
              <a:t># What gets saved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Item:  text, model_label, model_score, assigned_to (FK to a user)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Label: item, reviewer, decision (correct / incorrect / unsure)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E5C07B"/>
                </a:solidFill>
                <a:latin typeface="Consolas"/>
              </a:rPr>
              <a:t># The who-sees-what rule, stated outright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queue(): Item.objects.filter(assigned_to=request.user)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        "This one line is the whole point of the demo - comment it as such."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E5C07B"/>
                </a:solidFill>
                <a:latin typeface="Consolas"/>
              </a:rPr>
              <a:t># Use what the framework ships - don't hand-build it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Auth:  use django.contrib.auth.urls (login/logout for free)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Admin: register Item and Label - admins see everyone's labels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E5C07B"/>
                </a:solidFill>
                <a:latin typeface="Consolas"/>
              </a:rPr>
              <a:t># Ask for the test that would catch a leak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Tests: log in as one reviewer, request another reviewer's item id</a:t>
            </a:r>
          </a:p>
          <a:p>
            <a:pPr>
              <a:spcAft>
                <a:spcPts val="100"/>
              </a:spcAft>
            </a:pPr>
            <a:r>
              <a:rPr sz="1300" b="0" i="0">
                <a:solidFill>
                  <a:srgbClr val="F2F2F0"/>
                </a:solidFill>
                <a:latin typeface="Consolas"/>
              </a:rPr>
              <a:t>       - expect 404.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168F64"/>
                </a:solidFill>
                <a:latin typeface="Segoe UI"/>
              </a:rPr>
              <a:t>→ Every highlighted line is a decision made in plain words. The LLM wrote the code.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live-demo-django.md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Live demo: Django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alice → see only her queue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Try one of bob's item ids as alice → 404, not a data leak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admin → /admin/ shows every reviewer's labels, zero view or template code written for 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django/alice-queue.png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alice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Alice's queue — only her tickets</a:t>
            </a:r>
          </a:p>
        </p:txBody>
      </p:sp>
      <p:pic>
        <p:nvPicPr>
          <p:cNvPr id="11" name="Picture 10" descr="admin-lab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Admin: every reviewer's labels, free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live-demo-fastapi.md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Live demo: FastAPI + React labeling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Same task, same data, same three users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Log in as alice, label with the 1 / 2 / 3 keys — watch it auto-advance, no page reload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Open /docs — FastAPI's free Swagger test form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who-sees-what rule is written in three separate places - code in two slides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fastapi-react/labeling-in-progress.png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labeling-in-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Keyboard-driven, instant, app-like</a:t>
            </a:r>
          </a:p>
        </p:txBody>
      </p:sp>
      <p:pic>
        <p:nvPicPr>
          <p:cNvPr id="11" name="Picture 10" descr="swagger-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/docs — the free test 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views.py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The rule you own, in two codebases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318607" cy="4572000"/>
          </a:xfrm>
          <a:prstGeom prst="roundRect">
            <a:avLst>
              <a:gd name="adj" fmla="val 3000"/>
            </a:avLst>
          </a:prstGeom>
          <a:solidFill>
            <a:srgbClr val="12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481328"/>
            <a:ext cx="486140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B7B9C4"/>
                </a:solidFill>
                <a:latin typeface="Consolas"/>
              </a:rPr>
              <a:t>Django · labeling/views.py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1828800"/>
            <a:ext cx="4861407" cy="9525"/>
          </a:xfrm>
          <a:prstGeom prst="rect">
            <a:avLst/>
          </a:prstGeom>
          <a:solidFill>
            <a:srgbClr val="33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920240"/>
            <a:ext cx="4861407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@login_required               </a:t>
            </a:r>
            <a:r>
              <a:rPr sz="1250" b="0" i="0">
                <a:solidFill>
                  <a:srgbClr val="E5C07B"/>
                </a:solidFill>
                <a:latin typeface="Consolas"/>
              </a:rPr>
              <a:t>  # login: built in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def queue(request):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Item.objects.filter(assigned_to=request.user)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@login_required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def label_item(request, item_id):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get_object_or_404(Item, pk=item_id,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                  assigned_to=request.user)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E5C07B"/>
                </a:solidFill>
                <a:latin typeface="Consolas"/>
              </a:rPr>
              <a:t># The rule is part of each query itself -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E5C07B"/>
                </a:solidFill>
                <a:latin typeface="Consolas"/>
              </a:rPr>
              <a:t># there's no separate guard to forget.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371600"/>
            <a:ext cx="5318607" cy="4572000"/>
          </a:xfrm>
          <a:prstGeom prst="roundRect">
            <a:avLst>
              <a:gd name="adj" fmla="val 3000"/>
            </a:avLst>
          </a:prstGeom>
          <a:solidFill>
            <a:srgbClr val="12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3047" y="1481328"/>
            <a:ext cx="486140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B7B9C4"/>
                </a:solidFill>
                <a:latin typeface="Consolas"/>
              </a:rPr>
              <a:t>FastAPI · api/deps.py + api/main.py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53047" y="1828800"/>
            <a:ext cx="4861407" cy="9525"/>
          </a:xfrm>
          <a:prstGeom prst="rect">
            <a:avLst/>
          </a:prstGeom>
          <a:solidFill>
            <a:srgbClr val="33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1920240"/>
            <a:ext cx="4861407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def get_owned_item(item_id, current_user, db):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...filter(Item.assigned_to_id == current_user.id)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@app.get("/items")                </a:t>
            </a:r>
            <a:r>
              <a:rPr sz="1250" b="0" i="0">
                <a:solidFill>
                  <a:srgbClr val="E5C07B"/>
                </a:solidFill>
                <a:latin typeface="Consolas"/>
              </a:rPr>
              <a:t>  # 1: a list can't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...filter(Item.assigned_to_id  </a:t>
            </a:r>
            <a:r>
              <a:rPr sz="1250" b="0" i="0">
                <a:solidFill>
                  <a:srgbClr val="E5C07B"/>
                </a:solidFill>
                <a:latin typeface="Consolas"/>
              </a:rPr>
              <a:t>  #    reuse the guard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          == current_user.id)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@app.get("/items/{item_id}")      </a:t>
            </a:r>
            <a:r>
              <a:rPr sz="1250" b="0" i="0">
                <a:solidFill>
                  <a:srgbClr val="E5C07B"/>
                </a:solidFill>
                <a:latin typeface="Consolas"/>
              </a:rPr>
              <a:t>  # 2: remember to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item = Depends(get_owned_item)</a:t>
            </a:r>
            <a:r>
              <a:rPr sz="1250" b="0" i="0">
                <a:solidFill>
                  <a:srgbClr val="E5C07B"/>
                </a:solidFill>
                <a:latin typeface="Consolas"/>
              </a:rPr>
              <a:t>  #    attach it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@app.post("/items/{item_id}/label") # 3: ...and here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   item = Depends(get_owned_item)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F2F2F0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50" b="0" i="0">
                <a:solidFill>
                  <a:srgbClr val="E5C07B"/>
                </a:solidFill>
                <a:latin typeface="Consolas"/>
              </a:rPr>
              <a:t># plus security.py: JWT login, by hand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C0552A"/>
                </a:solidFill>
                <a:latin typeface="Segoe UI"/>
              </a:rPr>
              <a:t>→ You don't have to write this line. You do have to know it exists - and ask for the test that proves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same-guarantee-two.md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2262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2262AF"/>
                </a:solidFill>
                <a:latin typeface="Segoe UI Semibold"/>
              </a:rPr>
              <a:t>Same guarantee, two very different bills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guarantee: a reviewer never sees another reviewer's rows - both stacks deliver it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Django: less code, an admin for free, the rule inside one query per view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FastAPI + React: more code, but an instant, keyboard-driven feel and a separate API other systems can call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Start with Django; add an API and React later without throwing away the data model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2262AF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Either way, the LLM wrote most of the code. The request is where the two diverged.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live-demo-blocking.md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Live demo: blocking vs. queued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Click 'Start blocking rescore' — the tab just sits there for ~15s, nothing to show for it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Click 'Start queued rescore' — a job id appears instantly, and progress climbs 0 → 30 rows while the page stays responsive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Huey + SQLite: no Redis, nothing to install beyond Python — verified on Windows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006B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Built on FastAPI here; the same Huey setup plugs into Django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happening-underneath.py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What's happening underneath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04207"/>
                <a:gridCol w="4404207"/>
              </a:tblGrid>
              <a:tr h="1042416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Blocking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Queued (Huey + SQLite)</a:t>
                      </a:r>
                    </a:p>
                  </a:txBody>
                  <a:tcPr anchor="ctr">
                    <a:solidFill>
                      <a:srgbClr val="006B00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Where the work runs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Inside the page's own request, same process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separate Huey worker process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What comes back immediately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- the connection just waits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job id, instantly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How progress is tracked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It isn't - no signal until it finishes or times 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A status row in SQLite, updated as it runs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4241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What the page does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Sits there, disabled, hoping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Polls the status every few seconds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long-jobs/blocking-stuck.png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00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006B00"/>
                </a:solidFill>
                <a:latin typeface="Segoe UI Semibold"/>
              </a:rPr>
              <a:t>What we just saw</a:t>
            </a:r>
          </a:p>
        </p:txBody>
      </p:sp>
      <p:pic>
        <p:nvPicPr>
          <p:cNvPr id="9" name="Picture 8" descr="blocking-st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93768"/>
            <a:ext cx="5318607" cy="3419104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Blocking: button disabled, 'waiting for the server' - and that's it</a:t>
            </a:r>
          </a:p>
        </p:txBody>
      </p:sp>
      <p:pic>
        <p:nvPicPr>
          <p:cNvPr id="11" name="Picture 10" descr="queued-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993768"/>
            <a:ext cx="5318607" cy="3419104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Queued: job id back at once, progress climbing, page stays responsive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try-skill-file.md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Try it: a skill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The whole method from this talk, packaged as a Markdown file your AI assistant loads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Describe your app idea in plain words → it ticks the 12 functionalities and names the lightest stack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Flags the two gaps (multi-user, background jobs) before anything is built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What it gives back is the raw material for a ✅ request: which tool, which rules, which gaps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BE6486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Drop the folder into .claude/skills/ of any project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trigger-code-chat.json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BE64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BE6486"/>
                </a:solidFill>
                <a:latin typeface="Segoe UI Semibold"/>
              </a:rPr>
              <a:t>Trigger it from VS Code Chat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11430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 anchor="ctr">
                    <a:solidFill>
                      <a:srgbClr val="BE6486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Claude Code (CLI or VS Code extension)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Type / to see it listed, or just describe your use case - it auto-loads from its 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GitHub Copilot Chat (VS Code)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Same / menu - Agent Skills is an open standard both read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Either 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Drop the folder in .claude/skills/ (or .github/skills/) - no conversion needed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603504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 i="0">
                <a:solidFill>
                  <a:srgbClr val="BE6486"/>
                </a:solidFill>
                <a:latin typeface="Segoe UI"/>
              </a:rPr>
              <a:t>→ One skill folder, not one per assistant.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live-demo-skill.md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Live demo: the skill, as a runnable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Built on the skill's own advice: static HTML + D3 + Tailwind - rung 1, because that's all this use case needs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27 PSA container terminals worldwide, cross-filtered map + charts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28400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It shows its own working: the 12-tick verdict for this app, and an advisor you can try live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psa-map/map-overview.png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The product</a:t>
            </a:r>
          </a:p>
        </p:txBody>
      </p:sp>
      <p:pic>
        <p:nvPicPr>
          <p:cNvPr id="9" name="Picture 8" descr="map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41255"/>
            <a:ext cx="5318607" cy="332412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27 terminals, filterable, zoomable</a:t>
            </a:r>
          </a:p>
        </p:txBody>
      </p:sp>
      <p:pic>
        <p:nvPicPr>
          <p:cNvPr id="11" name="Picture 10" descr="detail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968" y="1371600"/>
            <a:ext cx="3787565" cy="4663440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Click a terminal → a sourced detail card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psa-map/build-trail.png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28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28400"/>
                </a:solidFill>
                <a:latin typeface="Segoe UI Semibold"/>
              </a:rPr>
              <a:t>The skill, showing its work</a:t>
            </a:r>
          </a:p>
        </p:txBody>
      </p:sp>
      <p:pic>
        <p:nvPicPr>
          <p:cNvPr id="9" name="Picture 8" descr="build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48580"/>
            <a:ext cx="5318607" cy="2709479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31520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The 12-functionality verdict for this app</a:t>
            </a:r>
          </a:p>
        </p:txBody>
      </p:sp>
      <p:pic>
        <p:nvPicPr>
          <p:cNvPr id="11" name="Picture 10" descr="live-advi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822467"/>
            <a:ext cx="5318607" cy="3761706"/>
          </a:xfrm>
          <a:prstGeom prst="rect">
            <a:avLst/>
          </a:prstGeom>
          <a:ln w="9525">
            <a:solidFill>
              <a:srgbClr val="E3E1D9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324447" y="6172200"/>
            <a:ext cx="53186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524C"/>
                </a:solidFill>
                <a:latin typeface="Segoe UI"/>
              </a:rPr>
              <a:t>Try the advisor on your own use case - same logic, tested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setup-cheat-sheet.json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Setup cheat-sheet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371600"/>
          <a:ext cx="1091153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8"/>
              </a:tblGrid>
              <a:tr h="52120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Install</a:t>
                      </a:r>
                    </a:p>
                  </a:txBody>
                  <a:tcPr anchor="ctr">
                    <a:solidFill>
                      <a:srgbClr val="168F64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Static HTML + D3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Nothing — or npm install http-server to preview locally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streamlit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dash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Flask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flask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FastAPI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fastapi uvicorn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Django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pip install django  →  django-admin startproject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React (Vite)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npm create vite@latest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Tailwind, no Node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standalone CLI, or a CDN link (hosted script tag)</a:t>
                      </a: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A1A1A"/>
                          </a:solidFill>
                          <a:latin typeface="Segoe UI"/>
                        </a:rPr>
                        <a:t>daisyUI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A1A1A"/>
                          </a:solidFill>
                          <a:latin typeface="Segoe UI"/>
                        </a:rPr>
                        <a:t>npm package, or paired with Tailwind's CDN link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takeaways.md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You'll ask an LLM to build it. The request - which tool, which rules - is the part you own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Decompose before you choose: tick the 12, then start at the lowest rung that covers your furthest tick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Multi-user and background jobs are where a demo quietly becomes a product. Name them in your request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Audience sets the finish: a peer forgives a plain page, a business user doesn't. Name a component kit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Climbing later is normal: Django, then an API, then React, keeping the data model. Outgrowing Streamlit means a rebuild - fine, the prototype was cheap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everything-talk-lives.md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168F64"/>
                </a:solidFill>
                <a:latin typeface="Segoe UI Semibold"/>
              </a:rPr>
              <a:t>Everything from this talk lives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github.com/hovinh/web-development-learning-lab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.claude/skills/web-stack-advisor/ — the skill: drop it into any project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demos/ — the four demos, each with the PROMPT.md that built it and a README to run it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168F64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blog/web-dev-for-data-people/ — the post this talk is based on, and this deck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102714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168F64"/>
                </a:solidFill>
                <a:latin typeface="Consolas"/>
              </a:rPr>
              <a:t># </a:t>
            </a:r>
            <a:r>
              <a:rPr sz="1800" b="0" i="0">
                <a:solidFill>
                  <a:srgbClr val="B7B9C4"/>
                </a:solidFill>
                <a:latin typeface="Consolas"/>
              </a:rPr>
              <a:t>talk.md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Segoe UI Semibold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2714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68F64"/>
                </a:solidFill>
                <a:latin typeface="Consolas"/>
              </a:rPr>
              <a:t>&gt; </a:t>
            </a:r>
            <a:r>
              <a:rPr sz="1600" b="0" i="0">
                <a:solidFill>
                  <a:srgbClr val="B7B9C4"/>
                </a:solidFill>
                <a:latin typeface="Consolas"/>
              </a:rPr>
              <a:t>Decompose before you choose.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168F64"/>
                </a:solidFill>
                <a:latin typeface="Consolas"/>
              </a:rPr>
              <a:t>$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98448" y="3639312"/>
            <a:ext cx="118872" cy="292608"/>
          </a:xfrm>
          <a:prstGeom prst="rect">
            <a:avLst/>
          </a:prstGeom>
          <a:solidFill>
            <a:srgbClr val="168F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backup-get-best.md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Backup: can I get the best of both worlds?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91153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Yes - and it's the normal path, not a special trick.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Start Django. Add Django REST Framework once another system (or a future React frontend) needs an API - the data model doesn't change.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Put React (or just htmx/Alpine.js, no build step) in front of only the screens that must feel instant - label review, not the admin.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django-ninja is a lighter, FastAPI-flavored alternative to DRF if you want typed, automatic-docs endpoints without leaving Django.</a:t>
            </a:r>
          </a:p>
          <a:p>
            <a:pPr marL="384048" indent="-384048">
              <a:spcAft>
                <a:spcPts val="1400"/>
              </a:spcAft>
            </a:pPr>
            <a:r>
              <a:rPr sz="1700" b="1" i="0">
                <a:solidFill>
                  <a:srgbClr val="C0552A"/>
                </a:solidFill>
                <a:latin typeface="Consolas"/>
              </a:rPr>
              <a:t>›	</a:t>
            </a:r>
            <a:r>
              <a:rPr sz="1700" b="0" i="0">
                <a:solidFill>
                  <a:srgbClr val="1A1A1A"/>
                </a:solidFill>
                <a:latin typeface="Segoe UI"/>
              </a:rPr>
              <a:t>What you don't get: two frameworks' auth merged into one - you still pick a single system of record for who's logged 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run-django-demo.md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Run it: Django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Activate the venv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so python resolves to the repo's shared packages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.venv\Scripts\Activate.ps1  (bash: source .venv/Scripts/activate)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407666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14016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414016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Migrate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creates the database tables from Django's models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python demos/labeling-django/manage.py migrate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450082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56432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456432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Seed demo data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creates alice/bob/admin and their sample tickets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python demos/labeling-django/manage.py seed_demo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492498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98848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498848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Start the server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serves the app locally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python demos/labeling-django/manage.py runserver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534914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41264"/>
            <a:ext cx="594360" cy="104241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[5]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541264"/>
            <a:ext cx="10289743" cy="1042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Open 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alice/bob/admin, password demo-&lt;name&gt;-pw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http://127.0.0.1:8000/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run-fastapi-react.md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Run it: FastAPI + React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Seed demo data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terminal 1, .venv active - creates alice/bob/admin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python demos/labeling-fastapi-react/api/seed.py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6827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7462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267462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Start the 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terminal 1 - serves FastAPI, docs included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uvicorn main:app --reload --app-dir demos/labeling-fastapi-react/api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97129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7764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97764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Install + start the front end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terminal 2 - npm install once, then the dev server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cd demos/labeling-fastapi-react/web  →  npm install  →  npm run dev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27431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280660"/>
            <a:ext cx="594360" cy="13030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[4]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5280660"/>
            <a:ext cx="10289743" cy="13030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Open 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same alice/bob/admin credentials as the Django demo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App: http://localhost:5173/   API docs: http://127.0.0.1:8000/docs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run-long-jobs.md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Run it: long-jobs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Start the API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terminal 1, .venv active - serves FastAPI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uvicorn app:app --reload --app-dir demos/long-jobs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261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10896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Start the worker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terminal 2, .venv active - runs the queued jobs; -k thread is required on Windows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cd demos/long-jobs  →  huey_consumer tasks.huey -k thread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3997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484632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Open 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no migrate/seed step needed; the jobs table is created automatically on startup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http://127.0.0.1:8000/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C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164592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" y="164592"/>
            <a:ext cx="128016" cy="12801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7552" y="164592"/>
            <a:ext cx="128016" cy="12801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0"/>
            <a:ext cx="10225735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50" b="0" i="0">
                <a:solidFill>
                  <a:srgbClr val="B7B9C4"/>
                </a:solidFill>
                <a:latin typeface="Consolas"/>
              </a:rPr>
              <a:t>run-psa-map.md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57200"/>
            <a:ext cx="91440" cy="6400800"/>
          </a:xfrm>
          <a:prstGeom prst="rect">
            <a:avLst/>
          </a:prstGeom>
          <a:solidFill>
            <a:srgbClr val="C05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C0552A"/>
                </a:solidFill>
                <a:latin typeface="Segoe UI Semibold"/>
              </a:rPr>
              <a:t>Run it: PSA map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37160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Install once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only if node_modules/ is absent; no .venv needed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npm install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0261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10896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Serve 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D3 needs a real server, not file://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npm run serve -- demos/psa-terminal-map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39970"/>
            <a:ext cx="10911535" cy="6350"/>
          </a:xfrm>
          <a:prstGeom prst="rect">
            <a:avLst/>
          </a:prstGeom>
          <a:solidFill>
            <a:srgbClr val="E3E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594360" cy="1737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 i="0">
                <a:solidFill>
                  <a:srgbClr val="C0552A"/>
                </a:solidFill>
                <a:latin typeface="Consolas"/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4846320"/>
            <a:ext cx="10289743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i="0">
                <a:solidFill>
                  <a:srgbClr val="1A1A1A"/>
                </a:solidFill>
                <a:latin typeface="Segoe UI"/>
              </a:rPr>
              <a:t>Open it  </a:t>
            </a:r>
            <a:r>
              <a:rPr sz="1400" b="0" i="0">
                <a:solidFill>
                  <a:srgbClr val="54524C"/>
                </a:solidFill>
                <a:latin typeface="Segoe UI"/>
              </a:rPr>
              <a:t>— the URL http-server prints, in your browser</a:t>
            </a:r>
          </a:p>
          <a:p>
            <a:r>
              <a:rPr sz="1150" b="0" i="0">
                <a:solidFill>
                  <a:srgbClr val="C0552A"/>
                </a:solidFill>
                <a:latin typeface="Consolas"/>
              </a:rPr>
              <a:t>e.g. http://localhost:8080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