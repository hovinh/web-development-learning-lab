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</a:t>
            </a:r>
          </a:p>
          <a:p>
            <a:r>
              <a:t>Welcome. ~90 minutes total, including four live demos. Questions welcome any time, or hold them - your call as speaker.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Set expectations for the shape of the talk before diving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Open with the everyday moment - this is the 'why' before any tooling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Land the hook: the assistant will build whatever you name - the costly mistake now happens earlier, picking wrong and finding out three days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Walk top to bottom: Python-native UI, browser, server, and underneath it all, the pandas/model work that's already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These two misconceptions cause most of the 'framework wars' confusion. Keeping the map on screen means nobody has to hold these names in their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This reframe is the whole method the rest of the talk builds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 min]</a:t>
            </a:r>
          </a:p>
          <a:p>
            <a:r>
              <a:t>Dense slide on purpose - give it room. Don't read every row; point at a few (7-10) since they come back in the 'two gaps' section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 min]</a:t>
            </a:r>
          </a:p>
          <a:p>
            <a:r>
              <a:t>Bridge straight into the ladder section. The dots are the same 12 rows from the functionalities table - nobody has to remember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[~3.5 min]</a:t>
            </a:r>
          </a:p>
          <a:p>
            <a:r>
              <a:t>Read the pull-quote: start at the lowest rung that covers every tick; climb only when you can name the specific thing the rung below can't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[~3.5 min]</a:t>
            </a:r>
          </a:p>
          <a:p>
            <a:r>
              <a:t>Mention the honest caveat: React+Tailwind is 2 projects, a build step, and auth you write yourself - climb there only for app-like UI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 min]</a:t>
            </a:r>
          </a:p>
          <a:p>
            <a:r>
              <a:t>Raw Tailwind gives utility classes, not a design - a component kit is what makes it look 'standard'. Mention the standalone CLI, no-Node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This and background jobs are the two gaps that bite the moment a demo becomes a product. None of this shows up in a 'build a dashboard in 10 minutes'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The rule to repeat: authorization is enforced on the server. Hiding a button in React protects nothing. Streamlit's cache is shared across all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The fix is always this same shape. This exact sequence reappears in demo 3, coming up shortly.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My default for a laptop: polling + a job-status table, Huey with SQLite for the worker - verified on Windows. We'll prove that live in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This is the thesis of the whole talk, not just the blog's closing line. Everything before this was building the vocabulary to make that choice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Land this before the head-to-head comparison - it reframes why the Django-vs-FastAPI contrast coming up matters beyond 'which is prettier'.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Set up the comparison before showing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For a small team, Django wins on time. FastAPI+React wins when the UI must be fast/keyboard-driven, another system needs the API, or a front-end engineer owns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</a:t>
            </a:r>
          </a:p>
          <a:p>
            <a:r>
              <a:t>All from the repo root. Nothing to configure by hand beyond these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[~3.5 min]</a:t>
            </a:r>
          </a:p>
          <a:p>
            <a:r>
              <a:t>SWITCH TO THE BROWSER NOW. http://127.0.0.1:8000/ - alice/demo-alice-pw, bob/demo-bob-pw, admin/demo-admin-pw. Fallback screenshots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[~3.5 min]</a:t>
            </a:r>
          </a:p>
          <a:p>
            <a:r>
              <a:t>`Item.objects.filter(assigned_to=request.user)` is the whole ownership rule, one line. Auth is django.contrib.auth.urls - zero hand-written view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</a:t>
            </a:r>
          </a:p>
          <a:p>
            <a:r>
              <a:t>Two terminals, both from the repo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[~3.5 min]</a:t>
            </a:r>
          </a:p>
          <a:p>
            <a:r>
              <a:t>http://localhost:5173/ for the app, http://127.0.0.1:8000/docs for Swagger. Same credentials as the Django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[~3.5 min]</a:t>
            </a:r>
          </a:p>
          <a:p>
            <a:r>
              <a:t>The payoff cost more code: JWTs minted by hand, ownership repeated across GET/POST/list endpoints instead of one queryset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 min]</a:t>
            </a:r>
          </a:p>
          <a:p>
            <a:r>
              <a:t>Close the loop on the comparison before moving to the next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</a:t>
            </a:r>
          </a:p>
          <a:p>
            <a:r>
              <a:t>Two terminals, both from the repo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 min]</a:t>
            </a:r>
          </a:p>
          <a:p>
            <a:r>
              <a:t>http://127.0.0.1:8000/. The blocking button is the whole point: there's nothing to screenshot while it hangs, and that's exactly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[~1.5 min]</a:t>
            </a:r>
          </a:p>
          <a:p>
            <a:r>
              <a:t>This is the same 4-step shape from the earlier ladder slide (request starts job / job runs elsewhere / status stored / page checks back), now with the real names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 min]</a:t>
            </a:r>
          </a:p>
          <a:p>
            <a:r>
              <a:t>The blocking button really does just sit there disabled for ~15s with no progress signal - the contrast with the queued version is the whole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[~0.5 min]</a:t>
            </a:r>
          </a:p>
          <a:p>
            <a:r>
              <a:t>Pure Node/static demo, run from the repo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  <a:p>
            <a:r>
              <a:t>Served at whatever URL `npm run serve -- demos/psa-terminal-map` prints (typically http://localhost:8080).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[~2.5 min]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 min]</a:t>
            </a:r>
          </a:p>
          <a:p>
            <a:r>
              <a:t>The point: the skill's advice is a function you can run, not an opinion — asserted by a test suite against all 8 documented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This is the 'go try it yourself'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</a:t>
            </a:r>
          </a:p>
          <a:p>
            <a:r>
              <a:t>Worth saying explicitly: people assume Claude-authored tooling is Claude-only. Since VS Code's Agent Skills became an open standard (agentskills.io), it isn't - Copilot Chat reads the same .claude/skills/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Honest caveat: everything here assumes it runs on your own machine. Deployment is a separate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Close on the throughline: decompose before you choose. (Title is deliberately count-agnostic - it's been 'three lessons' before and grown; don't re-name it back to a number.)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</a:t>
            </a:r>
          </a:p>
          <a:p>
            <a:r>
              <a:t>Give people a moment to note the URL down before moving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</a:t>
            </a:r>
          </a:p>
          <a:p>
            <a:r>
              <a:t>Thank you.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show this if asked - it's the natural 'can't I have both' follow-up. The honest limit: authentication still has to live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talk.md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2714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262AF"/>
                </a:solidFill>
                <a:latin typeface="Consolas"/>
              </a:rPr>
              <a:t># </a:t>
            </a:r>
            <a:r>
              <a:rPr sz="1800" b="0" i="0">
                <a:solidFill>
                  <a:srgbClr val="B7B9C4"/>
                </a:solidFill>
                <a:latin typeface="Consolas"/>
              </a:rPr>
              <a:t>talk.md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 Semibold"/>
              </a:rPr>
              <a:t>Web Dev for Data 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02714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62AF"/>
                </a:solidFill>
                <a:latin typeface="Consolas"/>
              </a:rPr>
              <a:t>&gt; </a:t>
            </a:r>
            <a:r>
              <a:rPr sz="1600" b="0" i="0">
                <a:solidFill>
                  <a:srgbClr val="B7B9C4"/>
                </a:solidFill>
                <a:latin typeface="Consolas"/>
              </a:rPr>
              <a:t>Choosing a stack, working with an LLM, and staying in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262AF"/>
                </a:solidFill>
                <a:latin typeface="Consolas"/>
              </a:rPr>
              <a:t>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3639312"/>
            <a:ext cx="118872" cy="292608"/>
          </a:xfrm>
          <a:prstGeom prst="rect">
            <a:avLst/>
          </a:prstGeom>
          <a:solidFill>
            <a:srgbClr val="226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what-we-ll.md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226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62AF"/>
                </a:solidFill>
                <a:latin typeface="Segoe UI Semibold"/>
              </a:rPr>
              <a:t>What we'll 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Why this matters for data people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 ladder for picking the lightest tool that works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Two gaps that quietly turn a demo into a product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How to use an LLM without losing control of your own codebase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Four live demos - screenshots included as a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the-moment-every.md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The moment every analysis hits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72887" cy="2743200"/>
          </a:xfrm>
          <a:prstGeom prst="roundRect">
            <a:avLst/>
          </a:prstGeom>
          <a:solidFill>
            <a:srgbClr val="F7F7F5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8B887F"/>
                </a:solidFill>
                <a:latin typeface="Consolas"/>
              </a:rPr>
              <a:t>In [1]: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282697"/>
            <a:ext cx="544810" cy="512063"/>
          </a:xfrm>
          <a:prstGeom prst="rect">
            <a:avLst/>
          </a:prstGeom>
          <a:solidFill>
            <a:srgbClr val="C9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60417" y="2916936"/>
            <a:ext cx="544810" cy="877824"/>
          </a:xfrm>
          <a:prstGeom prst="rect">
            <a:avLst/>
          </a:prstGeom>
          <a:solidFill>
            <a:srgbClr val="C9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2115" y="3136392"/>
            <a:ext cx="544810" cy="658368"/>
          </a:xfrm>
          <a:prstGeom prst="rect">
            <a:avLst/>
          </a:prstGeom>
          <a:solidFill>
            <a:srgbClr val="C9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03812" y="2697480"/>
            <a:ext cx="544810" cy="1097280"/>
          </a:xfrm>
          <a:prstGeom prst="rect">
            <a:avLst/>
          </a:prstGeom>
          <a:solidFill>
            <a:srgbClr val="C9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5510" y="3063240"/>
            <a:ext cx="544810" cy="731520"/>
          </a:xfrm>
          <a:prstGeom prst="rect">
            <a:avLst/>
          </a:prstGeom>
          <a:solidFill>
            <a:srgbClr val="C9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0167" y="1463040"/>
            <a:ext cx="5272887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0167" y="1463040"/>
            <a:ext cx="5272887" cy="292608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7327" y="156819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53631" y="1568196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99935" y="1568196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35927" y="2130552"/>
            <a:ext cx="4541367" cy="317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78423" y="2075688"/>
            <a:ext cx="146304" cy="146304"/>
          </a:xfrm>
          <a:prstGeom prst="ellipse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27367" y="3502152"/>
            <a:ext cx="544810" cy="384048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065" y="2926080"/>
            <a:ext cx="544810" cy="96012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0762" y="3246120"/>
            <a:ext cx="544810" cy="64008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42460" y="2798064"/>
            <a:ext cx="544810" cy="1088136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4157" y="3374136"/>
            <a:ext cx="544810" cy="512064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52728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Segoe UI Semibold"/>
              </a:rPr>
              <a:t>A chart in a notebook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4524C"/>
                </a:solidFill>
                <a:latin typeface="Segoe UI"/>
              </a:rPr>
              <a:t>Convinces you. It rarely convinces a colleague who's never going to open that notebook.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4343400"/>
            <a:ext cx="52728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Segoe UI Semibold"/>
              </a:rPr>
              <a:t>A small web app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4524C"/>
                </a:solidFill>
                <a:latin typeface="Segoe UI"/>
              </a:rPr>
              <a:t>Move a slider, filter to their own region, type a value - watch the answer change.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6B00"/>
                </a:solidFill>
                <a:latin typeface="Consolas"/>
              </a:rPr>
              <a:t>›  </a:t>
            </a:r>
            <a:r>
              <a:rPr sz="1600" b="1" i="1">
                <a:solidFill>
                  <a:srgbClr val="1A1A1A"/>
                </a:solidFill>
                <a:latin typeface="Segoe UI"/>
              </a:rPr>
              <a:t>That feels very different from a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where-this-quietly.md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Where this quietly pays 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42381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1508760"/>
            <a:ext cx="3314090" cy="5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296661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6B00"/>
                </a:solidFill>
                <a:latin typeface="Segoe UI Semibold"/>
              </a:rPr>
              <a:t>Explore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A1A1A"/>
                </a:solidFill>
                <a:latin typeface="Segoe UI"/>
              </a:rPr>
              <a:t>Makes exploring a dataset more interactive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5378" y="1508760"/>
            <a:ext cx="342381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0242" y="1508760"/>
            <a:ext cx="3314090" cy="5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978" y="1783080"/>
            <a:ext cx="296661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6B00"/>
                </a:solidFill>
                <a:latin typeface="Segoe UI Semibold"/>
              </a:rPr>
              <a:t>Demonstrate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A1A1A"/>
                </a:solidFill>
                <a:latin typeface="Segoe UI"/>
              </a:rPr>
              <a:t>Demonstrates a model as a live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9236" y="1508760"/>
            <a:ext cx="342381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4100" y="1508760"/>
            <a:ext cx="3314090" cy="5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7836" y="1783080"/>
            <a:ext cx="296661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6B00"/>
                </a:solidFill>
                <a:latin typeface="Segoe UI Semibold"/>
              </a:rPr>
              <a:t>Prototype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A1A1A"/>
                </a:solidFill>
                <a:latin typeface="Segoe UI"/>
              </a:rPr>
              <a:t>Prototypes a product idea before anyone spends engineering time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4524C"/>
                </a:solidFill>
                <a:latin typeface="Segoe UI"/>
              </a:rPr>
              <a:t>An LLM can write most of the boilerplate for you now… but the difficulty didn't disappear. It moved: to picking the right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where-each-tool.png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Where each tool lives</a:t>
            </a:r>
          </a:p>
        </p:txBody>
      </p:sp>
      <p:pic>
        <p:nvPicPr>
          <p:cNvPr id="9" name="Picture 8" descr="fiel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91" y="1371600"/>
            <a:ext cx="8394192" cy="4663440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4524C"/>
                </a:solidFill>
                <a:latin typeface="Segoe UI"/>
              </a:rPr>
              <a:t>Same band = alternatives. Different bands = usually combine.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two-easy-things.md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Two easy things to miss</a:t>
            </a:r>
          </a:p>
        </p:txBody>
      </p:sp>
      <p:pic>
        <p:nvPicPr>
          <p:cNvPr id="9" name="Picture 8" descr="fiel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1440"/>
            <a:ext cx="4846320" cy="2692400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0" y="1371600"/>
            <a:ext cx="56994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Tailwind (styling only) isn't a rival to Django or React - it works with either.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React and Angular (both JS UI libraries) sit on the same rung: both still need something else to supply data and handle login.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If you live in Python: Streamlit and Dash need zero JavaScript, and for many tasks that's the whole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stop-asking-which.md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Stop asking 'which framework?'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Ask instead: what does this app actually have to do?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Any web app is some combination of the same 12 capabilities.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Tick the rows your use case needs - the ticks are the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the-12-functionalities.json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The 12 functionalities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400929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Functionality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Presentation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Show static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Styling &amp; layout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Make it look decent and consistent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Client interactivity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Filters and tooltips, no page reload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API: providing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Expose data or a model over HTTP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API: consuming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page or service calls an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Server-side compute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Run pandas or a model per request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Save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Forms &amp; CRUD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Validated create, edit, delete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Who is this user?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Authorization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What may they do or see?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4009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Session &amp;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Remember a user's choices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9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Background / long jobs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Work that outlives one request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worked-examples.md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8808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Segoe UI"/>
              </a:rPr>
              <a:t>Share a chart you're proud of  →  Presentation, Styling &amp; layout, Client interactivity</a:t>
            </a:r>
          </a:p>
        </p:txBody>
      </p:sp>
      <p:sp>
        <p:nvSpPr>
          <p:cNvPr id="10" name="Oval 9"/>
          <p:cNvSpPr/>
          <p:nvPr/>
        </p:nvSpPr>
        <p:spPr>
          <a:xfrm>
            <a:off x="9814255" y="179679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65131" y="179679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16007" y="179679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66883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17759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68635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19511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0387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21263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72139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23015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73891" y="179679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4255" y="19431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8B887F"/>
                </a:solidFill>
                <a:latin typeface="Consolas"/>
              </a:rPr>
              <a:t>3 of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331720"/>
            <a:ext cx="8808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Segoe UI"/>
              </a:rPr>
              <a:t>Explore a dataset  →  Client interactivity, Server-side compute</a:t>
            </a:r>
          </a:p>
        </p:txBody>
      </p:sp>
      <p:sp>
        <p:nvSpPr>
          <p:cNvPr id="24" name="Oval 23"/>
          <p:cNvSpPr/>
          <p:nvPr/>
        </p:nvSpPr>
        <p:spPr>
          <a:xfrm>
            <a:off x="9814255" y="275691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5131" y="275691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16007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66883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17759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68635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19511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70387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21263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72139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23015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73891" y="275691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4255" y="29032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8B887F"/>
                </a:solidFill>
                <a:latin typeface="Consolas"/>
              </a:rPr>
              <a:t>2 of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291840"/>
            <a:ext cx="8808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Segoe UI"/>
              </a:rPr>
              <a:t>A labeling tool  →  Persistence through Authorization, plus everything before it</a:t>
            </a:r>
          </a:p>
        </p:txBody>
      </p:sp>
      <p:sp>
        <p:nvSpPr>
          <p:cNvPr id="38" name="Oval 37"/>
          <p:cNvSpPr/>
          <p:nvPr/>
        </p:nvSpPr>
        <p:spPr>
          <a:xfrm>
            <a:off x="9814255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65131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16007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66883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17759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68635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19511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70387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21263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172139" y="3717036"/>
            <a:ext cx="109728" cy="109728"/>
          </a:xfrm>
          <a:prstGeom prst="ellipse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323015" y="371703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73891" y="3717036"/>
            <a:ext cx="109728" cy="109728"/>
          </a:xfrm>
          <a:prstGeom prst="ellipse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14255" y="38633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8B887F"/>
                </a:solidFill>
                <a:latin typeface="Consolas"/>
              </a:rPr>
              <a:t>10 of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389120"/>
            <a:ext cx="1091153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The number of ticks is the signal: each tick from Persistence onward is a reason to reach for a heavier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climb-only-when.md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Climb only when you must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71600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Static HTML + D3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show a finished result, no server at all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no install, or: npm install http-server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07666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14016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414016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Streamlit or Dash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explore data, or build a tool for peers. Python only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pip install streamlit   /   pip install dash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0082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56432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456432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Flask or FastAPI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serve a model or data over HTTP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pip install fastapi uvicorn   /   pip install 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92498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98848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498848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Django + a Tailwind kit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users, a database, forms, and an admin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pip install django  →  django-admin startproject   |   Tailwind: standalone CLI, or a CDN link (one hosted script tag, zero install) - no Node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34914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41264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5541264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React or Angular over an API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only when the UI is genuinely app-like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npm create vite@latest -- --template react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applied-to-concrete.json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Applied to concrete cases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74458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168F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Functions</a:t>
                      </a:r>
                    </a:p>
                  </a:txBody>
                  <a:tcPr anchor="ctr">
                    <a:solidFill>
                      <a:srgbClr val="168F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Pick</a:t>
                      </a:r>
                    </a:p>
                  </a:txBody>
                  <a:tcPr anchor="ctr">
                    <a:solidFill>
                      <a:srgbClr val="168F64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Share a finished chart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1, 2, 3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Static HTML + D3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Explore a dataset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3, 6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Streamlit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Peer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3, 6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Dash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Demo a model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4, 6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FastAPI - /docs is a free test form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Labeling or review 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7-10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Django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Pipeline that ends in a page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1, 3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Python writes JSON, D3 renders it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pretty-enough-for.json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0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0552A"/>
                </a:solidFill>
                <a:latin typeface="Segoe UI Semibold"/>
              </a:rPr>
              <a:t>Pretty enough for business 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104241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 anchor="ctr">
                    <a:solidFill>
                      <a:srgbClr val="C055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Good for</a:t>
                      </a:r>
                    </a:p>
                  </a:txBody>
                  <a:tcPr anchor="ctr">
                    <a:solidFill>
                      <a:srgbClr val="C0552A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Django templates, Tailwind, daisyUI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clean prototype with no React - the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React, Tailwind, shadcn/ui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The best-looking and most customizable, highest setup cost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Dash + dash-bootstrap-components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Tidy dashboards out of the box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Django admin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Back-office screens for free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multi-user-six.md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226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62AF"/>
                </a:solidFill>
                <a:latin typeface="Segoe UI Semibold"/>
              </a:rPr>
              <a:t>Multi-user: six things to 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Authentication — who is this user?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Authorization — what may they do?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Data isolation — user A never sees user B's rows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Per-user state — remembering each user's own choices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Concurrent writes — two people editing at the same time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Audit trail — who changed what, and when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the-tools-differ.json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226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62AF"/>
                </a:solidFill>
                <a:latin typeface="Segoe UI Semibold"/>
              </a:rPr>
              <a:t>The tools differ sharply here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792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anchor="ctr">
                    <a:solidFill>
                      <a:srgbClr val="2262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What you get</a:t>
                      </a:r>
                    </a:p>
                  </a:txBody>
                  <a:tcPr anchor="ctr">
                    <a:solidFill>
                      <a:srgbClr val="2262A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Django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Auth, sessions, groups &amp; permissions (role-based access) - all built 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FastAPI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Nothing built in - docs show an OAuth2/JWT pattern (a token you send with every request) to write yourself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Streamlit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Built-in OIDC login (“log in with Google/Microsoft”) - but no roles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Dash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dash-auth: HTTP Basic only (a plain browser login popup, no real session) - no logout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React, Angular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Login screens only - real security lives on the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217920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262AF"/>
                </a:solidFill>
                <a:latin typeface="Segoe UI"/>
              </a:rPr>
              <a:t>→ Django is the only one with real roles out of the box - with everything else, you build authorization yourself.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a-request-must.md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A request must answer in seconds. Retraining a model doesn't.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7160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The request starts the job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and returns at once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6827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462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67462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The job runs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somewhere else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7129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7764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Its status is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stored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7431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8066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528066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The page checks back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every few seconds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surprising-traps-in.json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Surprising traps in background-job tooling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Catch</a:t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FastAPI BackgroundTasks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Runs a function after the response is sent, same 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background_tasks.add_task(fn)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In-process - no persistence or retries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Huey + SQLite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small task queue; SQLite instead of Redis (an in-memory store other queues use as a shared hand-off point) as its broker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huey_consumer.py tasks.huey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Smaller ecosystem than Celery/RQ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RQ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Redis-backed job 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rq worker  (a separate process)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Uses os.fork - no native Windows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Celery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The most full-featured distributed task queue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celery -A proj worker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Windows is unsupported by the project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Django's django.tasks (6.0)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Django's own built-in task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tasks.enqueue(my_task)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Defines enqueue, ships no worker - you still supply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E6486"/>
                </a:solidFill>
                <a:latin typeface="Consolas"/>
              </a:rPr>
              <a:t># </a:t>
            </a:r>
            <a:r>
              <a:rPr sz="1600" b="0" i="0">
                <a:solidFill>
                  <a:srgbClr val="B7B9C4"/>
                </a:solidFill>
                <a:latin typeface="Consolas"/>
              </a:rPr>
              <a:t>Web is secondary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BE6486"/>
                </a:solidFill>
                <a:latin typeface="Consolas"/>
              </a:rPr>
              <a:t>/*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An LLM makes writing the code cheap. That makes the choice of what to write - and who owns the logic - the one part worth your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749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BE6486"/>
                </a:solidFill>
                <a:latin typeface="Consolas"/>
              </a:rPr>
              <a:t>*/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let-the-llm.md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Let the LLM write boilerplate. You hold the backend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✅ 'Write a Django view that filters by request.user' — you already decided the ownership rule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✅ 'Scaffold this FastAPI route from my Pydantic model' — you own the model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🚫 'Build me a labeling tool' and walking away — now the LLM decided your data model, your auth, your schema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The 12-functionality list is exactly how you stay the one deciding, not just the one asking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If everything is LLM-driven end to end, you stop being able to explain your own codebase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the-test-case.md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The test case: a labeling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 model has predicted a category for a batch of support tickets.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Reviewers label rows; admins see everyone's labels and manage users.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 reviewer sees only the rows assigned to them.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 long job re-scores the data with a new model.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That touches almost all 12 functionalities — a fair test.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django-vs-fastapi.py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Django vs. FastAPI + React + Tailwind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04207"/>
                <a:gridCol w="4404207"/>
              </a:tblGrid>
              <a:tr h="104241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Django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FastAPI + React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Login &amp;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Built 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You build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Back-office screens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Admin gives users &amp; labels for free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You build them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API for other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Add Django REST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Built in, with automatic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Interface feel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Page loads, a little JS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Instant, app-like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run-it-django.md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Run it: Django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71600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Activate the venv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so python resolves to the repo's shared packages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.venv\Scripts\Activate.ps1  (bash: source .venv/Scripts/activate)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07666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14016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414016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Migrate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creates the database tables from Django's models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python demos/labeling-django/manage.py migrate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0082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56432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456432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Seed demo data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creates alice/bob/admin and their sample tickets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python demos/labeling-django/manage.py seed_demo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92498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98848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498848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Start the server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serves the app locally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python demos/labeling-django/manage.py runserver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34914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41264"/>
            <a:ext cx="59436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168F64"/>
                </a:solidFill>
                <a:latin typeface="Consolas"/>
              </a:rPr>
              <a:t>[5]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5541264"/>
            <a:ext cx="10289743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Open it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alice/bob/admin, password demo-&lt;name&gt;-pw</a:t>
            </a:r>
          </a:p>
          <a:p>
            <a:r>
              <a:rPr sz="1150" b="0" i="0">
                <a:solidFill>
                  <a:srgbClr val="168F64"/>
                </a:solidFill>
                <a:latin typeface="Consolas"/>
              </a:rPr>
              <a:t>http://127.0.0.1:8000/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live-demo-django.md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Live demo: Django labeling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Log in as alice → see only her queue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Try one of bob's item ids as alice → 404, not a data leak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Log in as admin → /admin/ shows every reviewer's labels, zero view or template code written for 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what-we-just.png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What we just saw</a:t>
            </a:r>
          </a:p>
        </p:txBody>
      </p:sp>
      <p:pic>
        <p:nvPicPr>
          <p:cNvPr id="9" name="Picture 8" descr="alice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90" y="1371600"/>
            <a:ext cx="4402067" cy="4663440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Alice's queue — only her tickets</a:t>
            </a:r>
          </a:p>
        </p:txBody>
      </p:sp>
      <p:pic>
        <p:nvPicPr>
          <p:cNvPr id="11" name="Picture 10" descr="admin-lab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041255"/>
            <a:ext cx="5318607" cy="3324129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24447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Admin: every reviewer's labels, free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run-it-fastapi.md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0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0552A"/>
                </a:solidFill>
                <a:latin typeface="Segoe UI Semibold"/>
              </a:rPr>
              <a:t>Run it: FastAPI + React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C0552A"/>
                </a:solidFill>
                <a:latin typeface="Consolas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7160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Seed demo data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terminal 1, .venv active - creates alice/bob/admin</a:t>
            </a:r>
          </a:p>
          <a:p>
            <a:r>
              <a:rPr sz="1150" b="0" i="0">
                <a:solidFill>
                  <a:srgbClr val="C0552A"/>
                </a:solidFill>
                <a:latin typeface="Consolas"/>
              </a:rPr>
              <a:t>python demos/labeling-fastapi-react/api/seed.py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6827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462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C0552A"/>
                </a:solidFill>
                <a:latin typeface="Consola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67462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Start the API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terminal 1 - serves FastAPI, docs included</a:t>
            </a:r>
          </a:p>
          <a:p>
            <a:r>
              <a:rPr sz="1150" b="0" i="0">
                <a:solidFill>
                  <a:srgbClr val="C0552A"/>
                </a:solidFill>
                <a:latin typeface="Consolas"/>
              </a:rPr>
              <a:t>uvicorn main:app --reload --app-dir demos/labeling-fastapi-react/api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7129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C0552A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7764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Install + start the front end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terminal 2 - npm install once, then the dev server</a:t>
            </a:r>
          </a:p>
          <a:p>
            <a:r>
              <a:rPr sz="1150" b="0" i="0">
                <a:solidFill>
                  <a:srgbClr val="C0552A"/>
                </a:solidFill>
                <a:latin typeface="Consolas"/>
              </a:rPr>
              <a:t>cd demos/labeling-fastapi-react/web  →  npm install  →  npm run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7431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80660"/>
            <a:ext cx="594360" cy="1303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C0552A"/>
                </a:solidFill>
                <a:latin typeface="Consolas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5280660"/>
            <a:ext cx="10289743" cy="1303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Open it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same alice/bob/admin credentials as the Django demo</a:t>
            </a:r>
          </a:p>
          <a:p>
            <a:r>
              <a:rPr sz="1150" b="0" i="0">
                <a:solidFill>
                  <a:srgbClr val="C0552A"/>
                </a:solidFill>
                <a:latin typeface="Consolas"/>
              </a:rPr>
              <a:t>App: http://localhost:5173/   API docs: http://127.0.0.1:8000/docs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live-demo-fastapi.md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0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0552A"/>
                </a:solidFill>
                <a:latin typeface="Segoe UI Semibold"/>
              </a:rPr>
              <a:t>Live demo: FastAPI + React labeling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Same task, same data, same three users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Log in as alice, label with the 1 / 2 / 3 keys — watch it auto-advance, no page reload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Open /docs — FastAPI's free Swagger test form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Ownership is checked in three separate places, not 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what-we-just.png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0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0552A"/>
                </a:solidFill>
                <a:latin typeface="Segoe UI Semibold"/>
              </a:rPr>
              <a:t>What we just saw</a:t>
            </a:r>
          </a:p>
        </p:txBody>
      </p:sp>
      <p:pic>
        <p:nvPicPr>
          <p:cNvPr id="9" name="Picture 8" descr="labeling-in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1255"/>
            <a:ext cx="5318607" cy="3324129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Keyboard-driven, instant, app-like</a:t>
            </a:r>
          </a:p>
        </p:txBody>
      </p:sp>
      <p:pic>
        <p:nvPicPr>
          <p:cNvPr id="11" name="Picture 10" descr="swagger-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041255"/>
            <a:ext cx="5318607" cy="3324129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24447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/docs — the free test form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same-guarantee-two.md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226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62AF"/>
                </a:solidFill>
                <a:latin typeface="Segoe UI Semibold"/>
              </a:rPr>
              <a:t>Same guarantee, two very different bills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Django: less code, an admin for free, a queryset filter for the hard part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FastAPI + React: more code, but an instant, keyboard-driven feel and a separate API other systems can call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Start with Django, outgrow it, add an API and put React in front later — you don't have to throw away the data model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262AF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Common question: can't I get the best of both? → yes - Django REST Framework as the API layer, React only on the screens that must feel instant (see the backup slide at the end)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run-it-long.md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Run it: long-jobs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94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71600"/>
            <a:ext cx="10289743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Start the API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terminal 1, .venv active - serves FastAPI</a:t>
            </a:r>
          </a:p>
          <a:p>
            <a:r>
              <a:rPr sz="1150" b="0" i="0">
                <a:solidFill>
                  <a:srgbClr val="006B00"/>
                </a:solidFill>
                <a:latin typeface="Consolas"/>
              </a:rPr>
              <a:t>uvicorn app:app --reload --app-dir demos/long-jobs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261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94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108960"/>
            <a:ext cx="10289743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Start the worker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terminal 2 - runs the actual queued jobs; -k thread is required on Windows</a:t>
            </a:r>
          </a:p>
          <a:p>
            <a:r>
              <a:rPr sz="1150" b="0" i="0">
                <a:solidFill>
                  <a:srgbClr val="006B00"/>
                </a:solidFill>
                <a:latin typeface="Consolas"/>
              </a:rPr>
              <a:t>cd demos/long-jobs  →  huey_consumer tasks.huey -k 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3997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94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006B00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846320"/>
            <a:ext cx="10289743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Open it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no migrate/seed step needed; the jobs table is created automatically on startup</a:t>
            </a:r>
          </a:p>
          <a:p>
            <a:r>
              <a:rPr sz="1150" b="0" i="0">
                <a:solidFill>
                  <a:srgbClr val="006B00"/>
                </a:solidFill>
                <a:latin typeface="Consolas"/>
              </a:rPr>
              <a:t>http://127.0.0.1:8000/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live-demo-blocking.md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Live demo: blocking vs. queued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006B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Click 'Start blocking rescore' — the tab just sits there for ~15s, nothing to show for it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06B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Click 'Start queued rescore' — a job id appears instantly, and a progress bar climbs 0 → 30 while the page stays fully responsive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06B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Huey + SQLite: no Redis, nothing to install beyond Python — verified working on Windows with -k thread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what-s-happening.py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What's happening underneath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04207"/>
                <a:gridCol w="4404207"/>
              </a:tblGrid>
              <a:tr h="104241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Blocking</a:t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Queued (Huey + SQLite)</a:t>
                      </a:r>
                    </a:p>
                  </a:txBody>
                  <a:tcPr anchor="ctr">
                    <a:solidFill>
                      <a:srgbClr val="006B00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Where the work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In the request/response cycle, same 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separate Huey consumer 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What comes back immediately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Nothing - the connection just waits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job id, instantly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How progress is tracked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It isn't - no signal until it finishes or times 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A status row in SQLite, updated as it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What the page does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Sits there, disabled, hoping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Polls the status endpoint every few seconds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what-we-just.png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00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006B00"/>
                </a:solidFill>
                <a:latin typeface="Segoe UI Semibold"/>
              </a:rPr>
              <a:t>What we just saw</a:t>
            </a:r>
          </a:p>
        </p:txBody>
      </p:sp>
      <p:pic>
        <p:nvPicPr>
          <p:cNvPr id="9" name="Picture 8" descr="blocking-st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93768"/>
            <a:ext cx="5318607" cy="3419104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Blocking: button disabled, 'waiting for the server' - and that's it</a:t>
            </a:r>
          </a:p>
        </p:txBody>
      </p:sp>
      <p:pic>
        <p:nvPicPr>
          <p:cNvPr id="11" name="Picture 10" descr="queued-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993768"/>
            <a:ext cx="5318607" cy="3419104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24447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Queued: job id back at once, progress climbing, page stays responsive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run-it-psa.md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Run it: PSA map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94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BE6486"/>
                </a:solidFill>
                <a:latin typeface="Consolas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371600"/>
            <a:ext cx="10289743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Install once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only if node_modules/ is absent; no .venv needed</a:t>
            </a:r>
          </a:p>
          <a:p>
            <a:r>
              <a:rPr sz="1150" b="0" i="0">
                <a:solidFill>
                  <a:srgbClr val="BE6486"/>
                </a:solidFill>
                <a:latin typeface="Consolas"/>
              </a:rPr>
              <a:t>npm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261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94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BE6486"/>
                </a:solidFill>
                <a:latin typeface="Consolas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108960"/>
            <a:ext cx="10289743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Serve it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D3 needs a real server, not file://</a:t>
            </a:r>
          </a:p>
          <a:p>
            <a:r>
              <a:rPr sz="1150" b="0" i="0">
                <a:solidFill>
                  <a:srgbClr val="BE6486"/>
                </a:solidFill>
                <a:latin typeface="Consolas"/>
              </a:rPr>
              <a:t>npm run serve -- demos/psa-terminal-map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39970"/>
            <a:ext cx="10911535" cy="6350"/>
          </a:xfrm>
          <a:prstGeom prst="rect">
            <a:avLst/>
          </a:prstGeom>
          <a:solidFill>
            <a:srgbClr val="E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94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i="0">
                <a:solidFill>
                  <a:srgbClr val="BE6486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846320"/>
            <a:ext cx="10289743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Segoe UI"/>
              </a:rPr>
              <a:t>Open it  </a:t>
            </a:r>
            <a:r>
              <a:rPr sz="1400" b="0" i="0">
                <a:solidFill>
                  <a:srgbClr val="54524C"/>
                </a:solidFill>
                <a:latin typeface="Segoe UI"/>
              </a:rPr>
              <a:t>— the URL http-server prints, in your browser</a:t>
            </a:r>
          </a:p>
          <a:p>
            <a:r>
              <a:rPr sz="1150" b="0" i="0">
                <a:solidFill>
                  <a:srgbClr val="BE6486"/>
                </a:solidFill>
                <a:latin typeface="Consolas"/>
              </a:rPr>
              <a:t>e.g. http://localhost:8080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live-demo-the.md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Live demo: the skill, as a runnable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Static HTML + D3 + Tailwind — rung 1 of the ladder, because that's exactly what this use case needs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27 PSA container terminals worldwide, cross-filtered map + charts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E6486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The page shows its own working, not just the product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the-product.png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The product</a:t>
            </a:r>
          </a:p>
        </p:txBody>
      </p:sp>
      <p:pic>
        <p:nvPicPr>
          <p:cNvPr id="9" name="Picture 8" descr="ma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1255"/>
            <a:ext cx="5318607" cy="3324129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27 terminals, filterable, zoomable</a:t>
            </a:r>
          </a:p>
        </p:txBody>
      </p:sp>
      <p:pic>
        <p:nvPicPr>
          <p:cNvPr id="11" name="Picture 10" descr="detail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968" y="1371600"/>
            <a:ext cx="3787565" cy="4663440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24447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Click a terminal → a sourced detail card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the-skill-showing.png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BE6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BE6486"/>
                </a:solidFill>
                <a:latin typeface="Segoe UI Semibold"/>
              </a:rPr>
              <a:t>The skill, showing its work</a:t>
            </a:r>
          </a:p>
        </p:txBody>
      </p:sp>
      <p:pic>
        <p:nvPicPr>
          <p:cNvPr id="9" name="Picture 8" descr="build-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670" y="1371600"/>
            <a:ext cx="3120306" cy="4663440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Act 2 — the 12-functionality verdict for THIS app</a:t>
            </a:r>
          </a:p>
        </p:txBody>
      </p:sp>
      <p:pic>
        <p:nvPicPr>
          <p:cNvPr id="11" name="Picture 10" descr="live-advi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041255"/>
            <a:ext cx="5318607" cy="3324129"/>
          </a:xfrm>
          <a:prstGeom prst="rect">
            <a:avLst/>
          </a:prstGeom>
          <a:ln w="9525">
            <a:solidFill>
              <a:srgbClr val="E3E1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24447" y="6172200"/>
            <a:ext cx="5318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524C"/>
                </a:solidFill>
                <a:latin typeface="Segoe UI"/>
              </a:rPr>
              <a:t>Act 3 — try the advisor live, same logic, tested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try-it-a.md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Try it: a skill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The whole framework, packaged as a Markdown file your AI assistant loads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Describe an app idea → it ticks the 12 functionalities and recommends the lightest stack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Flags the two gaps (multi-user, background jobs) automatically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28400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Drop the folder into .claude/skills/ of any project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trigger-it-from.json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Trigger it from VS Code Chat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11887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Claude Code (CLI or VS Code extension)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Type / to see it listed, or just describe your use case - it auto-loads from its 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GitHub Copilot Chat (VS Code)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Same / menu - Agent Skills is an open standard both read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Either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Drop the folder in .claude/skills/ (or .github/skills/) - no conversion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217920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C28400"/>
                </a:solidFill>
                <a:latin typeface="Segoe UI"/>
              </a:rPr>
              <a:t>→ One skill folder, not one per assistant.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setup-cheat-sheet.json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2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28400"/>
                </a:solidFill>
                <a:latin typeface="Segoe UI Semibold"/>
              </a:rPr>
              <a:t>Setup cheat-sheet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91153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52120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Rung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Install</a:t>
                      </a:r>
                    </a:p>
                  </a:txBody>
                  <a:tcPr anchor="ctr">
                    <a:solidFill>
                      <a:srgbClr val="C28400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Static HTML + D3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Nothing — or npm install http-server to preview locally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Streamlit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pip install streamlit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pip install dash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Flask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pip install flask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FastAPI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pip install fastapi uvicorn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Django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pip install django  →  django-admin startproject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React (Vite)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npm create vite@latest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Tailwind, no Node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standalone CLI, or a CDN link (hosted script tag) — even pip-installable</a:t>
                      </a: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Segoe UI"/>
                        </a:rPr>
                        <a:t>daisyUI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Segoe UI"/>
                        </a:rPr>
                        <a:t>npm package, or paired with Tailwind's CDN link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takeaways.md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Audience matters as much as architecture — a peer forgives a plain page, a business user doesn't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Multi-user and background jobs are where a demo silently becomes a product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An LLM makes writing code cheap — which makes the choice of what to write the one part worth your care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Decompose before you choose: start at the lowest rung that covers every tick you actually need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None of it is permanent — add exactly the piece you're missing later (a database, an API, a JS frontend) without a rewrite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everything-from-this.md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68F64"/>
                </a:solidFill>
                <a:latin typeface="Segoe UI Semibold"/>
              </a:rPr>
              <a:t>Everything from this talk lives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github.com/hovinh/web-development-learning-lab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demos/ — the four demos, runnable with the exact commands from this talk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.claude/skills/web-stack-advisor/ — the skill file, drop it into any project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68F64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blog/ — the post this talk is based on, and this slide deck's own source (content.py says what it says, theme.py says how it looks)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talk.md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2714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68F64"/>
                </a:solidFill>
                <a:latin typeface="Consolas"/>
              </a:rPr>
              <a:t># </a:t>
            </a:r>
            <a:r>
              <a:rPr sz="1800" b="0" i="0">
                <a:solidFill>
                  <a:srgbClr val="B7B9C4"/>
                </a:solidFill>
                <a:latin typeface="Consolas"/>
              </a:rPr>
              <a:t>talk.md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 Semibold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02714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68F64"/>
                </a:solidFill>
                <a:latin typeface="Consolas"/>
              </a:rPr>
              <a:t>&gt; </a:t>
            </a:r>
            <a:r>
              <a:rPr sz="1600" b="0" i="0">
                <a:solidFill>
                  <a:srgbClr val="B7B9C4"/>
                </a:solidFill>
                <a:latin typeface="Consolas"/>
              </a:rPr>
              <a:t>Decompose before you choose.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68F64"/>
                </a:solidFill>
                <a:latin typeface="Consolas"/>
              </a:rPr>
              <a:t>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3639312"/>
            <a:ext cx="118872" cy="292608"/>
          </a:xfrm>
          <a:prstGeom prst="rect">
            <a:avLst/>
          </a:prstGeom>
          <a:solidFill>
            <a:srgbClr val="168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64592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" y="164592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2257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0" i="0">
                <a:solidFill>
                  <a:srgbClr val="B7B9C4"/>
                </a:solidFill>
                <a:latin typeface="Consolas"/>
              </a:rPr>
              <a:t>backup-can-i.md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91440" cy="6400800"/>
          </a:xfrm>
          <a:prstGeom prst="rect">
            <a:avLst/>
          </a:prstGeom>
          <a:solidFill>
            <a:srgbClr val="C0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0552A"/>
                </a:solidFill>
                <a:latin typeface="Segoe UI Semibold"/>
              </a:rPr>
              <a:t>Backup: can I get the best of both worlds?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Yes - and it's the normal path, not a special trick.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Start Django. Add Django REST Framework once another system (or a future React frontend) needs an API - the data model doesn't change.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Put React (or just htmx/Alpine.js, no build step) in front of only the screens that must feel instant - label review, not the admin.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django-ninja is a lighter, FastAPI-flavored alternative to DRF if you want typed, automatic-docs endpoints without leaving Django.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0552A"/>
                </a:solidFill>
                <a:latin typeface="Consolas"/>
              </a:rPr>
              <a:t>›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What you don't get: two frameworks' auth merged into one - you still pick a single system of record for who's logged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